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52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Alice" panose="020B0604020202020204" charset="0"/>
      <p:regular r:id="rId13"/>
    </p:embeddedFont>
    <p:embeddedFont>
      <p:font typeface="Lora" panose="020F0502020204030204" pitchFamily="2" charset="0"/>
      <p:regular r:id="rId14"/>
    </p:embeddedFont>
    <p:embeddedFont>
      <p:font typeface="Lora Bold" panose="020B0604020202020204" charset="0"/>
      <p:regular r:id="rId15"/>
    </p:embeddedFont>
    <p:embeddedFont>
      <p:font typeface="Tw Cen MT" panose="020B0602020104020603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0303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975589"/>
            <a:ext cx="6517482" cy="188191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2914651"/>
            <a:ext cx="6517482" cy="1028699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131347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7772870" cy="256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64745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21423"/>
            <a:ext cx="7763814" cy="2052614"/>
          </a:xfrm>
        </p:spPr>
        <p:txBody>
          <a:bodyPr anchor="b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743093"/>
            <a:ext cx="7763814" cy="1026137"/>
          </a:xfrm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37010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1775320"/>
            <a:ext cx="3829520" cy="256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1775320"/>
            <a:ext cx="3829050" cy="2568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56067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1778263"/>
            <a:ext cx="3655106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2288260"/>
            <a:ext cx="3829520" cy="2055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1778263"/>
            <a:ext cx="3661353" cy="509996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19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2288260"/>
            <a:ext cx="3829051" cy="20551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16015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9298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474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2951766" cy="1517439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457201"/>
            <a:ext cx="4650122" cy="38861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1974639"/>
            <a:ext cx="2951767" cy="2368761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40670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4451227" cy="1517441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68602" y="457201"/>
            <a:ext cx="2441519" cy="38862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1974639"/>
            <a:ext cx="4451212" cy="2368760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363361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3217030"/>
            <a:ext cx="7773324" cy="608708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523696"/>
            <a:ext cx="7366899" cy="2410602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831546"/>
            <a:ext cx="7773339" cy="511854"/>
          </a:xfrm>
        </p:spPr>
        <p:txBody>
          <a:bodyPr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4329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2570434"/>
          </a:xfrm>
        </p:spPr>
        <p:txBody>
          <a:bodyPr anchor="ctr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153616"/>
            <a:ext cx="7773339" cy="1189785"/>
          </a:xfrm>
        </p:spPr>
        <p:txBody>
          <a:bodyPr anchor="ctr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507199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457200"/>
            <a:ext cx="6977064" cy="2244678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2707524"/>
            <a:ext cx="6564224" cy="446091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279597"/>
            <a:ext cx="7773339" cy="106579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751116" y="565625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8169" y="22451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674931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1604041"/>
            <a:ext cx="7773339" cy="1883876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3496751"/>
            <a:ext cx="7773339" cy="855483"/>
          </a:xfrm>
        </p:spPr>
        <p:txBody>
          <a:bodyPr anchor="t"/>
          <a:lstStyle>
            <a:lvl1pPr marL="0" indent="0" algn="ctr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865456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457200"/>
            <a:ext cx="7773339" cy="12038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2474232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207517"/>
            <a:ext cx="2474232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1775320"/>
            <a:ext cx="246864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207517"/>
            <a:ext cx="2477513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1775320"/>
            <a:ext cx="24786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207517"/>
            <a:ext cx="2478696" cy="213588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53121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458079"/>
            <a:ext cx="7773339" cy="120294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3153615"/>
            <a:ext cx="2472307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1775320"/>
            <a:ext cx="2472307" cy="1143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3585811"/>
            <a:ext cx="2472307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3153615"/>
            <a:ext cx="247637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1775320"/>
            <a:ext cx="2477514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3585811"/>
            <a:ext cx="2477514" cy="757589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3153615"/>
            <a:ext cx="2475511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165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1775320"/>
            <a:ext cx="2478696" cy="1143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3585809"/>
            <a:ext cx="2478790" cy="757591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89617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1775320"/>
            <a:ext cx="7773339" cy="2568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80330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57201"/>
            <a:ext cx="1914995" cy="38861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457201"/>
            <a:ext cx="5744043" cy="38861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569464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516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514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463888"/>
            <a:ext cx="7773338" cy="1197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1775320"/>
            <a:ext cx="7773339" cy="2568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4412457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4412457"/>
            <a:ext cx="500466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4412457"/>
            <a:ext cx="57316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430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  <p:sldLayoutId id="2147483770" r:id="rId18"/>
  </p:sldLayoutIdLst>
  <p:hf sldNum="0"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7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tx1"/>
        </a:buClr>
        <a:buFont typeface="Arial" panose="020B0604020202020204" pitchFamily="34" charset="0"/>
        <a:buChar char="•"/>
        <a:defRPr sz="15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3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2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tx1"/>
        </a:buClr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8" y="979685"/>
            <a:ext cx="4948079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Performance Metrics: Driving Growth and Strategy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96119" y="2894186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Clear, data-driven view of sales, profit, and KPIs to guide strategic decisions this quarter.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681112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Executive Summary: The Performance Snapshot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779687"/>
            <a:ext cx="2290465" cy="1497285"/>
          </a:xfrm>
          <a:prstGeom prst="roundRect">
            <a:avLst>
              <a:gd name="adj" fmla="val 1420"/>
            </a:avLst>
          </a:prstGeom>
          <a:solidFill>
            <a:srgbClr val="F0EDE6"/>
          </a:solidFill>
          <a:ln/>
        </p:spPr>
      </p:sp>
      <p:sp>
        <p:nvSpPr>
          <p:cNvPr id="5" name="Text 2"/>
          <p:cNvSpPr/>
          <p:nvPr/>
        </p:nvSpPr>
        <p:spPr>
          <a:xfrm>
            <a:off x="637877" y="19214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Sales &amp; Profit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2227957"/>
            <a:ext cx="200694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growth across key regions; gross and net margin improvements in priority segments.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779687"/>
            <a:ext cx="2290539" cy="1497285"/>
          </a:xfrm>
          <a:prstGeom prst="roundRect">
            <a:avLst>
              <a:gd name="adj" fmla="val 1420"/>
            </a:avLst>
          </a:prstGeom>
          <a:solidFill>
            <a:srgbClr val="F0EDE6"/>
          </a:solidFill>
          <a:ln/>
        </p:spPr>
      </p:sp>
      <p:sp>
        <p:nvSpPr>
          <p:cNvPr id="8" name="Text 5"/>
          <p:cNvSpPr/>
          <p:nvPr/>
        </p:nvSpPr>
        <p:spPr>
          <a:xfrm>
            <a:off x="3070101" y="192144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KPI Drivers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70101" y="2227957"/>
            <a:ext cx="20070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drivers: channel performance, product mix, and conversion rates from pipeline to closed deals.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96119" y="3418731"/>
            <a:ext cx="4722763" cy="1043657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11" name="Text 8"/>
          <p:cNvSpPr/>
          <p:nvPr/>
        </p:nvSpPr>
        <p:spPr>
          <a:xfrm>
            <a:off x="637877" y="356049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Roadmap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37877" y="3867001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Shift from raw metrics to automated, actionable insights—improve speed and accuracy of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78619"/>
            <a:ext cx="730984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KPI FRD: The Framework for Requirements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93677"/>
            <a:ext cx="3902943" cy="22116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91787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Purpose:</a:t>
            </a: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Define financial KPIs, acceptable tolerances, data sources, and reporting cadence.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49701" y="2499047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Mapping metrics to business outcomes (revenue, margin, CAC, LTV).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Department alignment: sales, finance, ops — single source of truth.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 quality rules: validation, refresh frequency, ownership.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3751"/>
            <a:ext cx="479427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Sales Performance Analysis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14079"/>
            <a:ext cx="3478039" cy="1970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24796" y="1506885"/>
            <a:ext cx="4784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Highlights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324796" y="1861245"/>
            <a:ext cx="432777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Revenue growth concentrated in Region A and Product Line X.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Top channels: Direct sales and key reseller partnerships—higher average order value.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Opportunity: Expand high-converting digital channel to adjacent markets.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324796" y="3480718"/>
            <a:ext cx="4327773" cy="779562"/>
          </a:xfrm>
          <a:prstGeom prst="roundRect">
            <a:avLst>
              <a:gd name="adj" fmla="val 2728"/>
            </a:avLst>
          </a:prstGeom>
          <a:solidFill>
            <a:srgbClr val="D7F4E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6555" y="3695774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85494" y="3643685"/>
            <a:ext cx="372531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Action: Reallocate marketing spend toward high-ROI channels for next quarter.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3751"/>
            <a:ext cx="549942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Profitability and Margin Review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793677"/>
            <a:ext cx="3902943" cy="22116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506885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Findings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749701" y="1861245"/>
            <a:ext cx="39029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Gross margin improved due to favorable product mix and supplier renegotiations.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Net margin pressure from increased variable expenses—logistics and promotions.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Efficiency wins: process automation reduced operational hours in core fulfillment.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3480718"/>
            <a:ext cx="3902943" cy="779562"/>
          </a:xfrm>
          <a:prstGeom prst="roundRect">
            <a:avLst>
              <a:gd name="adj" fmla="val 2728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1460" y="3695774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3643685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Recommendation: Target non-value add expenses for immediate reduction.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70236"/>
            <a:ext cx="589418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Data Intelligence: Applying SUMIF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136725"/>
            <a:ext cx="3478039" cy="15256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47158" y="3220229"/>
            <a:ext cx="752927" cy="94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Filter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1332256" y="3341116"/>
            <a:ext cx="782731" cy="150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Select rows matching the category</a:t>
            </a:r>
            <a:endParaRPr lang="en-US" sz="450" dirty="0"/>
          </a:p>
        </p:txBody>
      </p:sp>
      <p:sp>
        <p:nvSpPr>
          <p:cNvPr id="6" name="Text 3"/>
          <p:cNvSpPr/>
          <p:nvPr/>
        </p:nvSpPr>
        <p:spPr>
          <a:xfrm>
            <a:off x="2370302" y="2293711"/>
            <a:ext cx="752927" cy="94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Sum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2355400" y="2414597"/>
            <a:ext cx="782731" cy="1505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Add the values for those rows</a:t>
            </a:r>
            <a:endParaRPr lang="en-US" sz="450" dirty="0"/>
          </a:p>
        </p:txBody>
      </p:sp>
      <p:sp>
        <p:nvSpPr>
          <p:cNvPr id="8" name="Text 5"/>
          <p:cNvSpPr/>
          <p:nvPr/>
        </p:nvSpPr>
        <p:spPr>
          <a:xfrm>
            <a:off x="4324796" y="1953369"/>
            <a:ext cx="4784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24796" y="2307729"/>
            <a:ext cx="4327773" cy="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SUMIF(range_category, \"Region A\", range_amount) → total revenue for Region A.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SUMIF(product_range, \"Product X\", revenue_range) → product-level sales sums.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24796" y="3392091"/>
            <a:ext cx="43277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Impact: Automates segmented roll-ups, speeds monthly reporting and reduces manual errors.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99021"/>
            <a:ext cx="667695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Precision Analytics: Applying COUNTIF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14079"/>
            <a:ext cx="3478039" cy="1970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24796" y="1953295"/>
            <a:ext cx="4784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324796" y="2307654"/>
            <a:ext cx="4327773" cy="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COUNTIF(status_range, \"Closed Won\") → number of closed deals in period.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COUNTIF(agent_range, \"=Agent Smith\") → deals attributed to a specific agent.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324796" y="3392016"/>
            <a:ext cx="43277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Impact: Establishes clear volume-based benchmarks and conversion rate denominators for coaching and forecasting.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83643"/>
            <a:ext cx="799519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Efficiency Benchmarking: Applying AVERAGEIF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270001"/>
            <a:ext cx="3478039" cy="12590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1486" y="3221688"/>
            <a:ext cx="871252" cy="108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Compare Target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751486" y="2842209"/>
            <a:ext cx="871252" cy="108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Compute Average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751486" y="2458859"/>
            <a:ext cx="871252" cy="108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Select Subset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324796" y="2066776"/>
            <a:ext cx="478497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Use cases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324796" y="2421136"/>
            <a:ext cx="4327773" cy="7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AVERAGEIF(customer_tier_range, \"Premium\", margin_range) → mean margin for premium tier.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Average delivery time by region to spot logistic bottlenecks.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324796" y="3278684"/>
            <a:ext cx="432777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Impact: Identifies outliers and informs targeted interventions to lift overall averages.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9405"/>
            <a:ext cx="763160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Integrated Dashboard: Putting It All Together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414463"/>
            <a:ext cx="4327773" cy="29701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74531" y="1382539"/>
            <a:ext cx="393523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C2821"/>
                </a:solidFill>
                <a:latin typeface="Lora Bold" pitchFamily="34" charset="0"/>
                <a:ea typeface="Lora Bold" pitchFamily="34" charset="-122"/>
                <a:cs typeface="Lora Bold" pitchFamily="34" charset="-120"/>
              </a:rPr>
              <a:t>Dashboard notes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174531" y="1736899"/>
            <a:ext cx="3478039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Green theme indicates positive performance signals; brown (#3E2513) used for emphasis.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Combine SUMIF, COUNTIF, AVERAGEIF metrics into single-sheet KPIs for dynamic filtering.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Monitor variance between forecast and actuals weekly to catch trends early.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174531" y="3356372"/>
            <a:ext cx="3478039" cy="779562"/>
          </a:xfrm>
          <a:prstGeom prst="roundRect">
            <a:avLst>
              <a:gd name="adj" fmla="val 2728"/>
            </a:avLst>
          </a:prstGeom>
          <a:solidFill>
            <a:srgbClr val="D7F4E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6289" y="3571429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35228" y="3519339"/>
            <a:ext cx="287558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Visualization: Use green hues for growth and the theme brown for critical callouts.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395883"/>
            <a:ext cx="4722763" cy="8582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Conclusion and Strategic Next Steps</a:t>
            </a:r>
            <a:endParaRPr lang="en-US" sz="2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453679"/>
            <a:ext cx="2294855" cy="16886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28663" y="1610023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Recap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28663" y="1904330"/>
            <a:ext cx="1905967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Accurate KPI tracking using SUMIF/COUNTIF/AVERAGEIF has clarified revenue drivers and margin opportunities.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3952" y="1453679"/>
            <a:ext cx="2294930" cy="168860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156496" y="1610023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Immediate Actions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3156496" y="1904330"/>
            <a:ext cx="1906042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1) Implement automated formula sheet templates; 2) Centralize FRD ownership; 3) Reinvest in high-ROI channels.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3275261"/>
            <a:ext cx="2294855" cy="147228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8663" y="3431604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Measure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728663" y="3725912"/>
            <a:ext cx="1905967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Define monthly targets, track variance dashboards, and run weekly pipeline COUNTIF checks for conversion health.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3952" y="3275261"/>
            <a:ext cx="2294930" cy="147228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156496" y="3431604"/>
            <a:ext cx="1716658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Commitment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3156496" y="3725912"/>
            <a:ext cx="1906042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Data-driven decisions, continuous monitoring, and targeted efficiency programs to sustain growth.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4</TotalTime>
  <Words>597</Words>
  <Application>Microsoft Office PowerPoint</Application>
  <PresentationFormat>On-screen Show (16:9)</PresentationFormat>
  <Paragraphs>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Alice</vt:lpstr>
      <vt:lpstr>Lora</vt:lpstr>
      <vt:lpstr>Tw Cen MT</vt:lpstr>
      <vt:lpstr>Lora Bold</vt:lpstr>
      <vt:lpstr>Droplet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ADITI</dc:creator>
  <cp:lastModifiedBy>aditibhoir9804@outlook.com</cp:lastModifiedBy>
  <cp:revision>2</cp:revision>
  <dcterms:created xsi:type="dcterms:W3CDTF">2026-07-03T17:44:12Z</dcterms:created>
  <dcterms:modified xsi:type="dcterms:W3CDTF">2026-07-03T17:49:41Z</dcterms:modified>
</cp:coreProperties>
</file>